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HalluGuard</a:t>
            </a:r>
          </a:p>
          <a:p>
            <a:pPr>
              <a:defRPr sz="2200">
                <a:solidFill>
                  <a:srgbClr val="D5DBDB"/>
                </a:solidFill>
              </a:defRPr>
            </a:pPr>
            <a:r>
              <a:t>Détection et mitigation des hallucinations dans les pipelines RAG agentiques</a:t>
            </a:r>
          </a:p>
          <a:p>
            <a:pPr>
              <a:defRPr sz="1600" i="1">
                <a:solidFill>
                  <a:srgbClr val="BDC3C7"/>
                </a:solidFill>
              </a:defRPr>
            </a:pPr>
            <a:r>
              <a:t>Calibration · Self-consistency · Conformal prediction · Factualité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A5F"/>
                </a:solidFill>
              </a:defRPr>
            </a:pPr>
            <a:r>
              <a:t>Souleymane Diallo  ·  Marc Thierry Nankouli</a:t>
            </a:r>
          </a:p>
          <a:p>
            <a:pPr>
              <a:defRPr sz="1300" b="0">
                <a:solidFill>
                  <a:srgbClr val="1F3A5F"/>
                </a:solidFill>
              </a:defRPr>
            </a:pPr>
            <a:r>
              <a:t>Encadrant : Prof. Hajji Tarik</a:t>
            </a:r>
          </a:p>
          <a:p>
            <a:pPr>
              <a:defRPr sz="1300" b="0">
                <a:solidFill>
                  <a:srgbClr val="1F3A5F"/>
                </a:solidFill>
              </a:defRPr>
            </a:pPr>
            <a:r>
              <a:t>ENSAM Meknès — 4e année Génie IA &amp; Données — 2025-2026</a:t>
            </a:r>
          </a:p>
        </p:txBody>
      </p:sp>
      <p:pic>
        <p:nvPicPr>
          <p:cNvPr id="5" name="Picture 4" descr="LOGO_ENS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6162126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Les LLM hallucinent : des faits faux, formulés de façon plausible et confiante.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Le RAG réduit les hallucinations de 30–60 %… mais 40–70 % d'erreurs subsistent.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Dans un pipeline agentique, une erreur se PROPAGE et s'amplifie :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une hallucination au nœud retrieval contamine reasoning → tool_call → generation.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aucun mécanisme natif n'intercepte l'erreur au bon nœud.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Question : comment détecter et intercepter les hallucinations en temps réel,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sans modifier le pipeline, sans GPU, sans fine-tuning du détecteur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Lacunes des approches existantes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FActScore, SelfCheckGPT, RAGAS : post-traitement uniquement.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→ détection après que le pipeline a déjà consommé l'hallucination.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Aucune mémoire temporelle inter-étapes (contradictions tour N vs tour N-k).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Méthodes conçues pour des appels isolés, pas pour des agents séquentiels.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Protocoles agentiques modernes (MCP, A2A) non exploités pour la vérification.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Hypothèse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Hypothèse : un vérificateur NLI pré-entraîné + état de croyance + DAG détecte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&gt; 80 % des hallucinations, sur CPU, &lt; 300 ms, sans fine-tuning.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Contributions :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1. Taxonomie T1–T5 couplée à la topologie, validée (κ = 0,94).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2. Middleware modulaire 5 composants, intégrable sans toucher au pipeline.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3. Évaluation + calibration (ECE), conformal prediction, self-consistency.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4. Implémentation MCP (4 outils) + preuve de concept A2A.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La pile complète (exigence du module)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LLM local : Mistral 7B via Ollama (CPU, quantization Q4).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RAG : ChromaDB (HNSW, 71 chunks) + embeddings all-MiniLM.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Mémoire : BeliefState de session + persistance JSON inter-sessions.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Tools + MCP : serveur FastMCP, 4 outils standardisés (stdio JSON-RPC).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A2A : AgentCard + TaskObject (submitted → working → completed), PoC en processus.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Pipeline : LangGraph 4 nœuds — retrieval → reasoning → tool_call →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 HalluGuard (middleware)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S'intègre via hooks pre/post-nœud, sans modifier le code du pipeline.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1. DependencyDAG — criticité = |descendants| × (1 − confiance), propagation.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2. M1 LightweightVerifier — NLI cross-encoder 117 M (MNLI), inférence CPU.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3. M2 BeliefState — mémoire temporelle (50 faits, éviction confiance × récence).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4. PolicyEngine — log-only ou auto-correct (réinvocation LLM).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5. Serveur MCP — verify_claim, check_temporal_coherence, add_fact, get_belief_state.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Taxonomie T1–T5 (couplée à la topologie)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2377440"/>
                <a:gridCol w="4572000"/>
              </a:tblGrid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Nom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Nœud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Mécanisme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Perception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NLI (M1)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Mémoire temporelle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reasoning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BeliefState (M2)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Planification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NLI + DAG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Causale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generation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NLI (M1)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Délégation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tool_call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NLI (M1)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206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C0392B"/>
                </a:solidFill>
              </a:defRPr>
            </a:pPr>
            <a:r>
              <a:t>Chaque type est rattaché à son nœud d'origine dans le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Validation de la taxonomie (accord inter-annotateurs)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097280"/>
                <a:gridCol w="1828800"/>
                <a:gridCol w="2560320"/>
              </a:tblGrid>
              <a:tr h="5257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Sous-ensemble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Accord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κ de Cohen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Global (T1–T5)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95,0 %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0,94 — quasi-parfait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T1, T4, T5 (déterminés par topologie)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1,00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T2 vs T3 (zone ambiguë, reasoning)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87,5 %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0,75 — substantiel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383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C0392B"/>
                </a:solidFill>
              </a:defRPr>
            </a:pPr>
            <a:r>
              <a:t>2 annotateurs réels, à l'aveugle. Les 3 désaccords tombent tous sur la frontière T2/T3.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Les trois axes méthodologiques du sujet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Calibration (ECE) : le score NLI brut est-il une vraie probabilité ?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→ ECE = 0,24 (mal calibré) ; Platt scaling le réduit à 0,16.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Conformal prediction : seuil de détection à GARANTIE de couverture.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→ rappel cible respecté (0,90 → 0,909), coût en faux positifs quantifié.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Self-consistency : échantillonner le LLM k fois, mesurer l'(in)cohérence.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→ AUC = 0,88 pour séparer questions fiables vs piégées.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Protocole expérimental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Benchmark HaluEval-Agentic : 90 scénarios (60 hallucinés + 30 corrects).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12 scénarios par type T1–T5, longueurs de pipeline 3 / 7 / 12 nœuds.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3 variantes comparées : A (baseline), B (M1 seul), C (M1 + M2).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Métriques : Rappel, Précision, F1, FPR, overhead, McNemar, bootstrap IC 95 %.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Biais assumé : scénarios construits en connaissant les types (sur-détectables).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Matériel : CPU Intel standard, 16 Go RAM, sans GPU.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Résultats : Variante B recommandée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54480"/>
                <a:gridCol w="1737360"/>
                <a:gridCol w="1280160"/>
                <a:gridCol w="1280160"/>
                <a:gridCol w="2011680"/>
              </a:tblGrid>
              <a:tr h="5257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Variante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Rappel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Précision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FPR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Overhead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A —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 ms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B — M1 (NLI) 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76,7 %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90,2 %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82,9 %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16,7 %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≈40 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C — M1 + 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86,7 %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68,4 %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76,5 %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80 %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≈194 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383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C0392B"/>
                </a:solidFill>
              </a:defRPr>
            </a:pPr>
            <a:r>
              <a:t>B : meilleur F1, contrainte de latence (300 ms) largement satisfaite. A vs B : p &lt; 0,001.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Variante C : un compromis honnête sur 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M2 (BeliefState) augmente le rappel : 76,7 % → 86,7 % (+10 pts).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Mais effondre la précision : 90,2 % → 68,4 % (FPR 16,7 % → 80 %).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Cause structurelle :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sur un benchmark mono-tour, M2 confronte chaque claim à des faits de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session sans rapport → faux conflits.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M2 vise les contradictions INTER-TOURS (sessions conversationnelles).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→ son bénéfice réel reste à démontrer sur un benchmark v2 multi-tours.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Calibration &amp; conformal prediction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3108960"/>
                <a:gridCol w="3108960"/>
              </a:tblGrid>
              <a:tr h="5257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α (conformal)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Rappel cible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Rappel empirique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FPR (coût)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0,966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0,76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0,90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0,909 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0,59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0,44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383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C0392B"/>
                </a:solidFill>
              </a:defRPr>
            </a:pPr>
            <a:r>
              <a:t>Garantie de couverture respectée. ECE brut = 0,24 → 0,16 après Platt scaling.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Self-consistency comme signal d'incertitude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16 questions : 8 fiables (faits) vs 8 piégées (fausse prémisse, obscures).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Échantillonnage Mistral k = 5, accord mesuré par similarité d'embeddings.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Self-consistency moyenne : fiable 0,90 vs piégée 0,79 → AUC = 0,88.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Nuance honnête : une fausse prémisse rejetée de façon cohérente = score haut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→ la self-consistency mesure l'incertitude, pas directement la fausseté.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Signal complémentaire à M1, au prix de k appels LLM.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Comparaison : M1 (NLI léger) vs LLM-juge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9728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645920"/>
                <a:gridCol w="2377440"/>
                <a:gridCol w="2743200"/>
              </a:tblGrid>
              <a:tr h="5638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Méthode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Latence méd.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Modèle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HalluGuard M1 (NLI) 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82,9 %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≈40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117 M, CPU local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LLM-juge (Mistral 7B)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99,1 %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432 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3A5F"/>
                          </a:solidFill>
                        </a:defRPr>
                      </a:pPr>
                      <a:r>
                        <a:t>7 Md, API/GPU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971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C0392B"/>
                </a:solidFill>
              </a:defRPr>
            </a:pPr>
            <a:r>
              <a:t>M1 échange ≈16 pts de F1 contre ×10 de latence, ×60 de taille, et un fonctionnement 100 % local.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Limites &amp; menaces à la validité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T3 (planification) : 50 % en B — le NLI MNLI ne capte pas les sophismes logiques.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M2 dégrade la précision en mono-tour ; bénéfice inter-tours non encore mesuré.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Dataset synthétique (90 scénarios), construit en connaissant les types → biais optimiste.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A2A = simulation en processus, pas de transport réseau réel.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Généralisation : un seul LLM (Mistral 7B), domaine IA/NLP restreint.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HaluEval-Agentic v2 : benchmark conversationnel multi-tours → quantifier M2.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Fine-tuning du cross-encoder sur raisonnements annotés (FOLIO) pour T3.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Calibration conformale adaptative par domaine.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Publication du serveur MCP HalluGuard dans un registre public (plug-and-play).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Validation sur hallucinations naturelles en production.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HalluGuard : middleware anti-hallucination plug-and-play pour RAG agentique.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Variante B : F1 = 82,9 %, précision 90,2 %, ≈40 ms sur CPU, sans GPU ni API.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Taxonomie T1–T5 validée (κ = 0,94) ; 3 axes du sujet couverts</a:t>
            </a:r>
          </a:p>
          <a:p>
            <a:pPr lvl="1"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(calibration, conformal, self-consistency).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Évaluation honnête : M2 montre un compromis, le LLM-juge fixe le plafond.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Baseline solide et reproductible (scripts/run_all.py → results/SUMMARY.json).</a:t>
            </a:r>
          </a:p>
          <a:p>
            <a:pPr>
              <a:spcAft>
                <a:spcPts val="800"/>
              </a:spcAft>
              <a:defRPr sz="2000" b="1">
                <a:solidFill>
                  <a:srgbClr val="1F3A5F"/>
                </a:solidFill>
              </a:defRPr>
            </a:pPr>
            <a:r>
              <a:t>Merci — questions ? (démo : demo_interactive.py)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